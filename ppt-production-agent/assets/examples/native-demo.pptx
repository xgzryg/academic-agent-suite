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合成数值</c:v>
                </c:pt>
              </c:strCache>
            </c:strRef>
          </c:tx>
          <c:spPr>
            <a:solidFill>
              <a:srgbClr val="147D92"/>
            </a:solidFill>
          </c:spPr>
          <c:cat>
            <c:strRef>
              <c:f>Sheet1!$A$2:$A$4</c:f>
              <c:strCache>
                <c:ptCount val="3"/>
                <c:pt idx="0">
                  <c:v>示例 A</c:v>
                </c:pt>
                <c:pt idx="1">
                  <c:v>示例 B</c:v>
                </c:pt>
                <c:pt idx="2">
                  <c:v>示例 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</c:v>
                </c:pt>
                <c:pt idx="1">
                  <c:v>24</c:v>
                </c:pt>
                <c:pt idx="2">
                  <c:v>17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506176"/>
            </a:solidFill>
          </a:ln>
        </c:spPr>
        <c:txPr>
          <a:bodyPr/>
          <a:lstStyle/>
          <a:p>
            <a:pPr>
              <a:defRPr sz="1500">
                <a:solidFill>
                  <a:srgbClr val="152D48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CAD6E2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1500" b="0">
                    <a:solidFill>
                      <a:srgbClr val="152D48"/>
                    </a:solidFill>
                    <a:latin typeface="Aptos"/>
                    <a:ea typeface="Microsoft YaHei"/>
                  </a:defRPr>
                </a:pPr>
                <a:r>
                  <a:t>合成数值（任意单位）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solidFill>
              <a:srgbClr val="506176"/>
            </a:solidFill>
          </a:ln>
        </c:spPr>
        <c:txPr>
          <a:bodyPr/>
          <a:lstStyle/>
          <a:p>
            <a:pPr>
              <a:defRPr sz="1400">
                <a:solidFill>
                  <a:srgbClr val="152D48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600">
          <a:solidFill>
            <a:srgbClr val="152D48"/>
          </a:solidFill>
          <a:latin typeface="Aptos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这套演示展示从材料到页面、再到实际讲述的完整过程。我们会用简单的合成内容说明结构、图表和备注如何保持对应。这里的数字仅用于测试对象生成，不代表科研结果。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可以先用三个问题检查演示的方向。第一个问题决定内容取舍，第二个问题约束事实与图表，第三个问题决定时长和节奏。页数只是这些决定的结果，不应该成为凑内容的目标。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接下来进入内容组织。我们不需要把所有原文搬上屏幕，而要确定每页承担的解释任务。保留下来的细节，应当能帮助听众理解本页的主张。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屏幕文案负责让听众快速看见结构，口语稿则负责把这些信息串起来。遇到图表时，先说明横纵轴，再说明关键比较，最后解释它支持什么结论。不要一边展示长段落，一边逐字朗读。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左右两栏是同一内容的不同表达方式。页面保留便于扫读的信息，讲述补上逻辑与意义。两者应保持事实一致，同时避免重复堆叠同一段文字。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这张表格把抽象的质量要求分配给具体对象。标题看表达，图表看证据，备注看对应关系。示例中的状态只是演示表格功能，真实任务仍应依据实际检查更新。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这是一张原生 PowerPoint 图表，可以继续修改类别与数据。三组数值十二、二十四和十七都是明确标注的合成数据。真实研究中，图表必须来自用户提供的数据，不能为了视觉效果改变数字。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这条时间线描述一套演示的生产顺序。先理解材料和目的，再安排每页的解释任务，然后同步制作页面与口语稿。最后打开实际生成的文件核查，而不是只看代码是否运行结束。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这张图片原始比例为二比一。它被等比放入页面，四周空白不影响内容完整性。对于科研图，除比例之外还要核对图号、坐标、单位和图例；不能把模板中不相关的图直接用于新研究。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这一页强调实际成品的重要性。一个文件能打开，并不说明文字没有被遮住，图例没有丢失，或者讲稿仍然对应当前页面。这些都需要回到最终文件核对。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最后回到三个具体动作：核对证据，保持同步，查看真实页面。如果后续又修改了正文或顺序，就检查受影响的部分。准备充分的演示应该能够继续编辑，也能够被实际讲清楚。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示例到这里结束。接下来可以用真实材料替换故事板，或围绕内容取舍和图表表达展开讨论。任何新的问题都应根据当前材料回答，缺少证据时直接说明需要补充什么。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59" y="1243584"/>
            <a:ext cx="100584" cy="4142232"/>
          </a:xfrm>
          <a:prstGeom prst="rect">
            <a:avLst/>
          </a:prstGeom>
          <a:solidFill>
            <a:srgbClr val="147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1097280"/>
            <a:ext cx="9875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200"/>
              </a:spcAft>
              <a:defRPr sz="1500" b="0">
                <a:solidFill>
                  <a:srgbClr val="506176"/>
                </a:solidFill>
                <a:latin typeface="Aptos"/>
                <a:ea typeface="Microsoft YaHei"/>
              </a:defRPr>
            </a:pPr>
            <a:r>
              <a:t>PRESENTATION WORKSHOP</a:t>
            </a:r>
          </a:p>
        </p:txBody>
      </p:sp>
      <p:sp>
        <p:nvSpPr>
          <p:cNvPr id="4" name="ppa-title:s01"/>
          <p:cNvSpPr txBox="1"/>
          <p:nvPr/>
        </p:nvSpPr>
        <p:spPr>
          <a:xfrm>
            <a:off x="932688" y="1883664"/>
            <a:ext cx="100584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200"/>
              </a:spcAft>
              <a:defRPr sz="4000" b="1">
                <a:solidFill>
                  <a:srgbClr val="152D48"/>
                </a:solidFill>
                <a:latin typeface="Aptos"/>
                <a:ea typeface="Microsoft YaHei"/>
              </a:defRPr>
            </a:pPr>
            <a:r>
              <a:t>让复杂材料变成清楚的演示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4032504"/>
            <a:ext cx="99669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200"/>
              </a:spcAft>
              <a:defRPr sz="2300" b="0">
                <a:solidFill>
                  <a:srgbClr val="506176"/>
                </a:solidFill>
                <a:latin typeface="Aptos"/>
                <a:ea typeface="Microsoft YaHei"/>
              </a:defRPr>
            </a:pPr>
            <a:r>
              <a:t>原生对象、逐页口语稿与真实页面核查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419088"/>
            <a:ext cx="978408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200"/>
              </a:spcAft>
              <a:defRPr sz="1000" b="0">
                <a:solidFill>
                  <a:srgbClr val="506176"/>
                </a:solidFill>
                <a:latin typeface="Aptos"/>
                <a:ea typeface="Microsoft YaHei"/>
              </a:defRPr>
            </a:pPr>
            <a:r>
              <a:t>合成示例 · 用于演示软件功能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391656"/>
            <a:ext cx="65836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1200"/>
              </a:spcAft>
              <a:defRPr sz="1100" b="0">
                <a:solidFill>
                  <a:srgbClr val="506176"/>
                </a:solidFill>
                <a:latin typeface="Aptos"/>
                <a:ea typeface="Microsoft YaHei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7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pa-title:s02"/>
          <p:cNvSpPr txBox="1"/>
          <p:nvPr/>
        </p:nvSpPr>
        <p:spPr>
          <a:xfrm>
            <a:off x="621792" y="356616"/>
            <a:ext cx="109270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200"/>
              </a:spcAft>
              <a:defRPr sz="2900" b="1">
                <a:solidFill>
                  <a:srgbClr val="152D48"/>
                </a:solidFill>
                <a:latin typeface="Aptos"/>
                <a:ea typeface="Microsoft YaHei"/>
              </a:defRPr>
            </a:pPr>
            <a:r>
              <a:t>三个问题组织一次演示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179576"/>
            <a:ext cx="10945368" cy="13716"/>
          </a:xfrm>
          <a:prstGeom prst="rect">
            <a:avLst/>
          </a:prstGeom>
          <a:solidFill>
            <a:srgbClr val="CAD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1600200"/>
            <a:ext cx="10469880" cy="4069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200"/>
              </a:spcAft>
              <a:defRPr sz="2400" b="0">
                <a:solidFill>
                  <a:srgbClr val="152D48"/>
                </a:solidFill>
                <a:latin typeface="Aptos"/>
                <a:ea typeface="Microsoft YaHei"/>
              </a:defRPr>
            </a:pPr>
            <a:r>
              <a:t>01  听众需要理解什么？</a:t>
            </a:r>
          </a:p>
          <a:p>
            <a:pPr algn="l">
              <a:spcAft>
                <a:spcPts val="1200"/>
              </a:spcAft>
              <a:defRPr sz="2400" b="0">
                <a:solidFill>
                  <a:srgbClr val="152D48"/>
                </a:solidFill>
                <a:latin typeface="Aptos"/>
                <a:ea typeface="Microsoft YaHei"/>
              </a:defRPr>
            </a:pPr>
            <a:r>
              <a:t>02  哪些证据支撑核心消息？</a:t>
            </a:r>
          </a:p>
          <a:p>
            <a:pPr algn="l">
              <a:spcAft>
                <a:spcPts val="1200"/>
              </a:spcAft>
              <a:defRPr sz="2400" b="0">
                <a:solidFill>
                  <a:srgbClr val="152D48"/>
                </a:solidFill>
                <a:latin typeface="Aptos"/>
                <a:ea typeface="Microsoft YaHei"/>
              </a:defRPr>
            </a:pPr>
            <a:r>
              <a:t>03  怎样在限定时间内讲清楚？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419088"/>
            <a:ext cx="978408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200"/>
              </a:spcAft>
              <a:defRPr sz="1000" b="0">
                <a:solidFill>
                  <a:srgbClr val="506176"/>
                </a:solidFill>
                <a:latin typeface="Aptos"/>
                <a:ea typeface="Microsoft YaHei"/>
              </a:defRPr>
            </a:pPr>
            <a:r>
              <a:t>合成示例 · 用于演示软件功能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391656"/>
            <a:ext cx="65836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1200"/>
              </a:spcAft>
              <a:defRPr sz="1100" b="0">
                <a:solidFill>
                  <a:srgbClr val="506176"/>
                </a:solidFill>
                <a:latin typeface="Aptos"/>
                <a:ea typeface="Microsoft YaHei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59" y="1243584"/>
            <a:ext cx="100584" cy="4142232"/>
          </a:xfrm>
          <a:prstGeom prst="rect">
            <a:avLst/>
          </a:prstGeom>
          <a:solidFill>
            <a:srgbClr val="147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pa-title:s03"/>
          <p:cNvSpPr txBox="1"/>
          <p:nvPr/>
        </p:nvSpPr>
        <p:spPr>
          <a:xfrm>
            <a:off x="932688" y="1883664"/>
            <a:ext cx="100584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200"/>
              </a:spcAft>
              <a:defRPr sz="3600" b="1">
                <a:solidFill>
                  <a:srgbClr val="152D48"/>
                </a:solidFill>
                <a:latin typeface="Aptos"/>
                <a:ea typeface="Microsoft YaHei"/>
              </a:defRPr>
            </a:pPr>
            <a:r>
              <a:t>从信息堆叠到逐页主张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4032504"/>
            <a:ext cx="99669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200"/>
              </a:spcAft>
              <a:defRPr sz="2300" b="0">
                <a:solidFill>
                  <a:srgbClr val="506176"/>
                </a:solidFill>
                <a:latin typeface="Aptos"/>
                <a:ea typeface="Microsoft YaHei"/>
              </a:defRPr>
            </a:pPr>
            <a:r>
              <a:t>每一页，都回答一个具体问题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6419088"/>
            <a:ext cx="978408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200"/>
              </a:spcAft>
              <a:defRPr sz="1000" b="0">
                <a:solidFill>
                  <a:srgbClr val="506176"/>
                </a:solidFill>
                <a:latin typeface="Aptos"/>
                <a:ea typeface="Microsoft YaHei"/>
              </a:defRPr>
            </a:pPr>
            <a:r>
              <a:t>合成示例 · 用于演示软件功能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391656"/>
            <a:ext cx="65836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1200"/>
              </a:spcAft>
              <a:defRPr sz="1100" b="0">
                <a:solidFill>
                  <a:srgbClr val="506176"/>
                </a:solidFill>
                <a:latin typeface="Aptos"/>
                <a:ea typeface="Microsoft YaHei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7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pa-title:s04"/>
          <p:cNvSpPr txBox="1"/>
          <p:nvPr/>
        </p:nvSpPr>
        <p:spPr>
          <a:xfrm>
            <a:off x="621792" y="356616"/>
            <a:ext cx="109270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200"/>
              </a:spcAft>
              <a:defRPr sz="2900" b="1">
                <a:solidFill>
                  <a:srgbClr val="152D48"/>
                </a:solidFill>
                <a:latin typeface="Aptos"/>
                <a:ea typeface="Microsoft YaHei"/>
              </a:defRPr>
            </a:pPr>
            <a:r>
              <a:t>屏幕文案与口语稿各有职责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179576"/>
            <a:ext cx="10945368" cy="13716"/>
          </a:xfrm>
          <a:prstGeom prst="rect">
            <a:avLst/>
          </a:prstGeom>
          <a:solidFill>
            <a:srgbClr val="CAD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1600200"/>
            <a:ext cx="10469880" cy="4069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200"/>
              </a:spcAft>
              <a:defRPr sz="2400" b="0">
                <a:solidFill>
                  <a:srgbClr val="152D48"/>
                </a:solidFill>
                <a:latin typeface="Aptos"/>
                <a:ea typeface="Microsoft YaHei"/>
              </a:defRPr>
            </a:pPr>
            <a:r>
              <a:t>屏幕提供结构、核心数字与视觉线索。</a:t>
            </a:r>
          </a:p>
          <a:p>
            <a:pPr algn="l">
              <a:spcAft>
                <a:spcPts val="1200"/>
              </a:spcAft>
              <a:defRPr sz="2400" b="0">
                <a:solidFill>
                  <a:srgbClr val="152D48"/>
                </a:solidFill>
                <a:latin typeface="Aptos"/>
                <a:ea typeface="Microsoft YaHei"/>
              </a:defRPr>
            </a:pPr>
            <a:r>
              <a:t>口语稿补充解释与过渡。</a:t>
            </a:r>
          </a:p>
          <a:p>
            <a:pPr algn="l">
              <a:spcAft>
                <a:spcPts val="1200"/>
              </a:spcAft>
              <a:defRPr sz="2100" b="0">
                <a:solidFill>
                  <a:srgbClr val="152D48"/>
                </a:solidFill>
                <a:latin typeface="Aptos"/>
                <a:ea typeface="Microsoft YaHei"/>
              </a:defRPr>
            </a:pPr>
            <a:r>
              <a:t>  说明证据如何支持本页结论。</a:t>
            </a:r>
          </a:p>
          <a:p>
            <a:pPr algn="l">
              <a:spcAft>
                <a:spcPts val="1200"/>
              </a:spcAft>
              <a:defRPr sz="2100" b="0">
                <a:solidFill>
                  <a:srgbClr val="152D48"/>
                </a:solidFill>
                <a:latin typeface="Aptos"/>
                <a:ea typeface="Microsoft YaHei"/>
              </a:defRPr>
            </a:pPr>
            <a:r>
              <a:t>  引导听众观察关键坐标和比较。</a:t>
            </a:r>
          </a:p>
          <a:p>
            <a:pPr algn="l">
              <a:spcAft>
                <a:spcPts val="1200"/>
              </a:spcAft>
              <a:defRPr sz="2400" b="0">
                <a:solidFill>
                  <a:srgbClr val="152D48"/>
                </a:solidFill>
                <a:latin typeface="Aptos"/>
                <a:ea typeface="Microsoft YaHei"/>
              </a:defRPr>
            </a:pPr>
            <a:r>
              <a:t>复杂细节可以放入备份页。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419088"/>
            <a:ext cx="978408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200"/>
              </a:spcAft>
              <a:defRPr sz="1000" b="0">
                <a:solidFill>
                  <a:srgbClr val="506176"/>
                </a:solidFill>
                <a:latin typeface="Aptos"/>
                <a:ea typeface="Microsoft YaHei"/>
              </a:defRPr>
            </a:pPr>
            <a:r>
              <a:t>合成示例 · 用于演示软件功能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391656"/>
            <a:ext cx="65836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1200"/>
              </a:spcAft>
              <a:defRPr sz="1100" b="0">
                <a:solidFill>
                  <a:srgbClr val="506176"/>
                </a:solidFill>
                <a:latin typeface="Aptos"/>
                <a:ea typeface="Microsoft YaHei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7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pa-title:s05"/>
          <p:cNvSpPr txBox="1"/>
          <p:nvPr/>
        </p:nvSpPr>
        <p:spPr>
          <a:xfrm>
            <a:off x="621792" y="356616"/>
            <a:ext cx="109270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200"/>
              </a:spcAft>
              <a:defRPr sz="2900" b="1">
                <a:solidFill>
                  <a:srgbClr val="152D48"/>
                </a:solidFill>
                <a:latin typeface="Aptos"/>
                <a:ea typeface="Microsoft YaHei"/>
              </a:defRPr>
            </a:pPr>
            <a:r>
              <a:t>让内容与展示保持一致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179576"/>
            <a:ext cx="10945368" cy="13716"/>
          </a:xfrm>
          <a:prstGeom prst="rect">
            <a:avLst/>
          </a:prstGeom>
          <a:solidFill>
            <a:srgbClr val="CAD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1490472"/>
            <a:ext cx="5303520" cy="4224528"/>
          </a:xfrm>
          <a:prstGeom prst="round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46504"/>
            <a:ext cx="475487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200"/>
              </a:spcAft>
              <a:defRPr sz="2100" b="1">
                <a:solidFill>
                  <a:srgbClr val="147D92"/>
                </a:solidFill>
                <a:latin typeface="Aptos"/>
                <a:ea typeface="Microsoft YaHei"/>
              </a:defRPr>
            </a:pPr>
            <a:r>
              <a:t>页面上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85416"/>
            <a:ext cx="4754879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200"/>
              </a:spcAft>
              <a:defRPr sz="2100" b="0">
                <a:solidFill>
                  <a:srgbClr val="152D48"/>
                </a:solidFill>
                <a:latin typeface="Aptos"/>
                <a:ea typeface="Microsoft YaHei"/>
              </a:defRPr>
            </a:pPr>
            <a:r>
              <a:t>一个核心消息</a:t>
            </a:r>
          </a:p>
          <a:p>
            <a:pPr algn="l">
              <a:spcAft>
                <a:spcPts val="1200"/>
              </a:spcAft>
              <a:defRPr sz="2100" b="0">
                <a:solidFill>
                  <a:srgbClr val="152D48"/>
                </a:solidFill>
                <a:latin typeface="Aptos"/>
                <a:ea typeface="Microsoft YaHei"/>
              </a:defRPr>
            </a:pPr>
            <a:r>
              <a:t>必要的数字与单位</a:t>
            </a:r>
          </a:p>
          <a:p>
            <a:pPr algn="l">
              <a:spcAft>
                <a:spcPts val="1200"/>
              </a:spcAft>
              <a:defRPr sz="2100" b="0">
                <a:solidFill>
                  <a:srgbClr val="152D48"/>
                </a:solidFill>
                <a:latin typeface="Aptos"/>
                <a:ea typeface="Microsoft YaHei"/>
              </a:defRPr>
            </a:pPr>
            <a:r>
              <a:t>可辨认的图例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27064" y="1490472"/>
            <a:ext cx="5303520" cy="4224528"/>
          </a:xfrm>
          <a:prstGeom prst="round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83096" y="1746504"/>
            <a:ext cx="475487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200"/>
              </a:spcAft>
              <a:defRPr sz="2100" b="1">
                <a:solidFill>
                  <a:srgbClr val="147D92"/>
                </a:solidFill>
                <a:latin typeface="Aptos"/>
                <a:ea typeface="Microsoft YaHei"/>
              </a:defRPr>
            </a:pPr>
            <a:r>
              <a:t>讲述中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83096" y="2185416"/>
            <a:ext cx="4754879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200"/>
              </a:spcAft>
              <a:defRPr sz="2100" b="0">
                <a:solidFill>
                  <a:srgbClr val="152D48"/>
                </a:solidFill>
                <a:latin typeface="Aptos"/>
                <a:ea typeface="Microsoft YaHei"/>
              </a:defRPr>
            </a:pPr>
            <a:r>
              <a:t>解释为什么重要</a:t>
            </a:r>
          </a:p>
          <a:p>
            <a:pPr algn="l">
              <a:spcAft>
                <a:spcPts val="1200"/>
              </a:spcAft>
              <a:defRPr sz="2100" b="0">
                <a:solidFill>
                  <a:srgbClr val="152D48"/>
                </a:solidFill>
                <a:latin typeface="Aptos"/>
                <a:ea typeface="Microsoft YaHei"/>
              </a:defRPr>
            </a:pPr>
            <a:r>
              <a:t>指出比较与边界</a:t>
            </a:r>
          </a:p>
          <a:p>
            <a:pPr algn="l">
              <a:spcAft>
                <a:spcPts val="1200"/>
              </a:spcAft>
              <a:defRPr sz="2100" b="0">
                <a:solidFill>
                  <a:srgbClr val="152D48"/>
                </a:solidFill>
                <a:latin typeface="Aptos"/>
                <a:ea typeface="Microsoft YaHei"/>
              </a:defRPr>
            </a:pPr>
            <a:r>
              <a:t>与下一页自然衔接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6419088"/>
            <a:ext cx="978408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200"/>
              </a:spcAft>
              <a:defRPr sz="1000" b="0">
                <a:solidFill>
                  <a:srgbClr val="506176"/>
                </a:solidFill>
                <a:latin typeface="Aptos"/>
                <a:ea typeface="Microsoft YaHei"/>
              </a:defRPr>
            </a:pPr>
            <a:r>
              <a:t>合成示例 · 用于演示软件功能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81360" y="6391656"/>
            <a:ext cx="65836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1200"/>
              </a:spcAft>
              <a:defRPr sz="1100" b="0">
                <a:solidFill>
                  <a:srgbClr val="506176"/>
                </a:solidFill>
                <a:latin typeface="Aptos"/>
                <a:ea typeface="Microsoft YaHei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7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pa-title:s06"/>
          <p:cNvSpPr txBox="1"/>
          <p:nvPr/>
        </p:nvSpPr>
        <p:spPr>
          <a:xfrm>
            <a:off x="621792" y="356616"/>
            <a:ext cx="109270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200"/>
              </a:spcAft>
              <a:defRPr sz="2900" b="1">
                <a:solidFill>
                  <a:srgbClr val="152D48"/>
                </a:solidFill>
                <a:latin typeface="Aptos"/>
                <a:ea typeface="Microsoft YaHei"/>
              </a:defRPr>
            </a:pPr>
            <a:r>
              <a:t>把检查职责落实到具体对象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179576"/>
            <a:ext cx="10945368" cy="13716"/>
          </a:xfrm>
          <a:prstGeom prst="rect">
            <a:avLst/>
          </a:prstGeom>
          <a:solidFill>
            <a:srgbClr val="CAD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508760"/>
          <a:ext cx="10826496" cy="4224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8832"/>
                <a:gridCol w="3608832"/>
                <a:gridCol w="3608832"/>
              </a:tblGrid>
              <a:tr h="1056132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7F9FC"/>
                          </a:solidFill>
                          <a:latin typeface="Aptos"/>
                          <a:ea typeface="Microsoft YaHei"/>
                        </a:defRPr>
                      </a:pPr>
                      <a:r>
                        <a:t>对象</a:t>
                      </a:r>
                    </a:p>
                  </a:txBody>
                  <a:tcPr anchor="ctr">
                    <a:solidFill>
                      <a:srgbClr val="15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7F9FC"/>
                          </a:solidFill>
                          <a:latin typeface="Aptos"/>
                          <a:ea typeface="Microsoft YaHei"/>
                        </a:defRPr>
                      </a:pPr>
                      <a:r>
                        <a:t>核对内容</a:t>
                      </a:r>
                    </a:p>
                  </a:txBody>
                  <a:tcPr anchor="ctr">
                    <a:solidFill>
                      <a:srgbClr val="152D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7F9FC"/>
                          </a:solidFill>
                          <a:latin typeface="Aptos"/>
                          <a:ea typeface="Microsoft YaHei"/>
                        </a:defRPr>
                      </a:pPr>
                      <a:r>
                        <a:t>示例状态</a:t>
                      </a:r>
                    </a:p>
                  </a:txBody>
                  <a:tcPr anchor="ctr">
                    <a:solidFill>
                      <a:srgbClr val="152D48"/>
                    </a:solidFill>
                  </a:tcPr>
                </a:tc>
              </a:tr>
              <a:tr h="1056132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52D48"/>
                          </a:solidFill>
                          <a:latin typeface="Aptos"/>
                          <a:ea typeface="Microsoft YaHei"/>
                        </a:defRPr>
                      </a:pPr>
                      <a:r>
                        <a:t>标题</a:t>
                      </a:r>
                    </a:p>
                  </a:txBody>
                  <a:tcPr anchor="ctr"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52D48"/>
                          </a:solidFill>
                          <a:latin typeface="Aptos"/>
                          <a:ea typeface="Microsoft YaHei"/>
                        </a:defRPr>
                      </a:pPr>
                      <a:r>
                        <a:t>是否表达当前页的主张</a:t>
                      </a:r>
                    </a:p>
                  </a:txBody>
                  <a:tcPr anchor="ctr"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52D48"/>
                          </a:solidFill>
                          <a:latin typeface="Aptos"/>
                          <a:ea typeface="Microsoft YaHei"/>
                        </a:defRPr>
                      </a:pPr>
                      <a:r>
                        <a:t>已填写</a:t>
                      </a:r>
                    </a:p>
                  </a:txBody>
                  <a:tcPr anchor="ctr">
                    <a:solidFill>
                      <a:srgbClr val="EAF0F7"/>
                    </a:solidFill>
                  </a:tcPr>
                </a:tc>
              </a:tr>
              <a:tr h="1056132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52D48"/>
                          </a:solidFill>
                          <a:latin typeface="Aptos"/>
                          <a:ea typeface="Microsoft YaHei"/>
                        </a:defRPr>
                      </a:pPr>
                      <a:r>
                        <a:t>图表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52D48"/>
                          </a:solidFill>
                          <a:latin typeface="Aptos"/>
                          <a:ea typeface="Microsoft YaHei"/>
                        </a:defRPr>
                      </a:pPr>
                      <a:r>
                        <a:t>数值、单位和来源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52D48"/>
                          </a:solidFill>
                          <a:latin typeface="Aptos"/>
                          <a:ea typeface="Microsoft YaHei"/>
                        </a:defRPr>
                      </a:pPr>
                      <a:r>
                        <a:t>待核查</a:t>
                      </a:r>
                    </a:p>
                  </a:txBody>
                  <a:tcPr anchor="ctr">
                    <a:solidFill>
                      <a:srgbClr val="F7F9FC"/>
                    </a:solidFill>
                  </a:tcPr>
                </a:tc>
              </a:tr>
              <a:tr h="1056132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52D48"/>
                          </a:solidFill>
                          <a:latin typeface="Aptos"/>
                          <a:ea typeface="Microsoft YaHei"/>
                        </a:defRPr>
                      </a:pPr>
                      <a:r>
                        <a:t>备注</a:t>
                      </a:r>
                    </a:p>
                  </a:txBody>
                  <a:tcPr anchor="ctr"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52D48"/>
                          </a:solidFill>
                          <a:latin typeface="Aptos"/>
                          <a:ea typeface="Microsoft YaHei"/>
                        </a:defRPr>
                      </a:pPr>
                      <a:r>
                        <a:t>是否对应当前页序</a:t>
                      </a:r>
                    </a:p>
                  </a:txBody>
                  <a:tcPr anchor="ctr"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52D48"/>
                          </a:solidFill>
                          <a:latin typeface="Aptos"/>
                          <a:ea typeface="Microsoft YaHei"/>
                        </a:defRPr>
                      </a:pPr>
                      <a:r>
                        <a:t>已关联</a:t>
                      </a:r>
                    </a:p>
                  </a:txBody>
                  <a:tcPr anchor="ctr"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21792" y="6419088"/>
            <a:ext cx="978408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200"/>
              </a:spcAft>
              <a:defRPr sz="1000" b="0">
                <a:solidFill>
                  <a:srgbClr val="506176"/>
                </a:solidFill>
                <a:latin typeface="Aptos"/>
                <a:ea typeface="Microsoft YaHei"/>
              </a:defRPr>
            </a:pPr>
            <a:r>
              <a:t>合成示例 · 用于演示软件功能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391656"/>
            <a:ext cx="65836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1200"/>
              </a:spcAft>
              <a:defRPr sz="1100" b="0">
                <a:solidFill>
                  <a:srgbClr val="506176"/>
                </a:solidFill>
                <a:latin typeface="Aptos"/>
                <a:ea typeface="Microsoft YaHei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7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pa-title:s07"/>
          <p:cNvSpPr txBox="1"/>
          <p:nvPr/>
        </p:nvSpPr>
        <p:spPr>
          <a:xfrm>
            <a:off x="621792" y="356616"/>
            <a:ext cx="109270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200"/>
              </a:spcAft>
              <a:defRPr sz="2900" b="1">
                <a:solidFill>
                  <a:srgbClr val="152D48"/>
                </a:solidFill>
                <a:latin typeface="Aptos"/>
                <a:ea typeface="Microsoft YaHei"/>
              </a:defRPr>
            </a:pPr>
            <a:r>
              <a:t>可编辑图表保留原始数值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179576"/>
            <a:ext cx="10945368" cy="13716"/>
          </a:xfrm>
          <a:prstGeom prst="rect">
            <a:avLst/>
          </a:prstGeom>
          <a:solidFill>
            <a:srgbClr val="CAD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31520" y="1481328"/>
          <a:ext cx="10716768" cy="424281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21792" y="5961888"/>
            <a:ext cx="1065276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200"/>
              </a:spcAft>
              <a:defRPr sz="1200" b="0">
                <a:solidFill>
                  <a:srgbClr val="506176"/>
                </a:solidFill>
                <a:latin typeface="Aptos"/>
                <a:ea typeface="Microsoft YaHei"/>
              </a:defRPr>
            </a:pPr>
            <a:r>
              <a:t>合成数据，仅供软件功能验证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6419088"/>
            <a:ext cx="978408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200"/>
              </a:spcAft>
              <a:defRPr sz="1000" b="0">
                <a:solidFill>
                  <a:srgbClr val="506176"/>
                </a:solidFill>
                <a:latin typeface="Aptos"/>
                <a:ea typeface="Microsoft YaHei"/>
              </a:defRPr>
            </a:pPr>
            <a:r>
              <a:t>合成示例 · 用于演示软件功能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391656"/>
            <a:ext cx="65836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1200"/>
              </a:spcAft>
              <a:defRPr sz="1100" b="0">
                <a:solidFill>
                  <a:srgbClr val="506176"/>
                </a:solidFill>
                <a:latin typeface="Aptos"/>
                <a:ea typeface="Microsoft YaHei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7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pa-title:s08"/>
          <p:cNvSpPr txBox="1"/>
          <p:nvPr/>
        </p:nvSpPr>
        <p:spPr>
          <a:xfrm>
            <a:off x="621792" y="356616"/>
            <a:ext cx="109270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200"/>
              </a:spcAft>
              <a:defRPr sz="2900" b="1">
                <a:solidFill>
                  <a:srgbClr val="152D48"/>
                </a:solidFill>
                <a:latin typeface="Aptos"/>
                <a:ea typeface="Microsoft YaHei"/>
              </a:defRPr>
            </a:pPr>
            <a:r>
              <a:t>一次完整制作的四个阶段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179576"/>
            <a:ext cx="10945368" cy="13716"/>
          </a:xfrm>
          <a:prstGeom prst="rect">
            <a:avLst/>
          </a:prstGeom>
          <a:solidFill>
            <a:srgbClr val="CAD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2971800"/>
            <a:ext cx="10332720" cy="32004"/>
          </a:xfrm>
          <a:prstGeom prst="rect">
            <a:avLst/>
          </a:prstGeom>
          <a:solidFill>
            <a:srgbClr val="CAD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114550" y="2871216"/>
            <a:ext cx="182880" cy="219456"/>
          </a:xfrm>
          <a:prstGeom prst="roundRect">
            <a:avLst/>
          </a:prstGeom>
          <a:solidFill>
            <a:srgbClr val="147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47672"/>
            <a:ext cx="24003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1200"/>
              </a:spcAft>
              <a:defRPr sz="2100" b="1">
                <a:solidFill>
                  <a:srgbClr val="152D48"/>
                </a:solidFill>
                <a:latin typeface="Aptos"/>
                <a:ea typeface="Microsoft YaHei"/>
              </a:defRPr>
            </a:pPr>
            <a:r>
              <a:t>理解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355848"/>
            <a:ext cx="2400300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1200"/>
              </a:spcAft>
              <a:defRPr sz="1800" b="0">
                <a:solidFill>
                  <a:srgbClr val="506176"/>
                </a:solidFill>
                <a:latin typeface="Aptos"/>
                <a:ea typeface="Microsoft YaHei"/>
              </a:defRPr>
            </a:pPr>
            <a:r>
              <a:t>受众、目标和材料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97730" y="2871216"/>
            <a:ext cx="182880" cy="219456"/>
          </a:xfrm>
          <a:prstGeom prst="roundRect">
            <a:avLst/>
          </a:prstGeom>
          <a:solidFill>
            <a:srgbClr val="147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89020" y="1947672"/>
            <a:ext cx="24003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1200"/>
              </a:spcAft>
              <a:defRPr sz="2100" b="1">
                <a:solidFill>
                  <a:srgbClr val="152D48"/>
                </a:solidFill>
                <a:latin typeface="Aptos"/>
                <a:ea typeface="Microsoft YaHei"/>
              </a:defRPr>
            </a:pPr>
            <a:r>
              <a:t>策划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89020" y="3355848"/>
            <a:ext cx="2400300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1200"/>
              </a:spcAft>
              <a:defRPr sz="1800" b="0">
                <a:solidFill>
                  <a:srgbClr val="506176"/>
                </a:solidFill>
                <a:latin typeface="Aptos"/>
                <a:ea typeface="Microsoft YaHei"/>
              </a:defRPr>
            </a:pPr>
            <a:r>
              <a:t>证据与逐页主张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80910" y="2871216"/>
            <a:ext cx="182880" cy="219456"/>
          </a:xfrm>
          <a:prstGeom prst="roundRect">
            <a:avLst/>
          </a:prstGeom>
          <a:solidFill>
            <a:srgbClr val="147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72199" y="1947672"/>
            <a:ext cx="24003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1200"/>
              </a:spcAft>
              <a:defRPr sz="2100" b="1">
                <a:solidFill>
                  <a:srgbClr val="152D48"/>
                </a:solidFill>
                <a:latin typeface="Aptos"/>
                <a:ea typeface="Microsoft YaHei"/>
              </a:defRPr>
            </a:pPr>
            <a:r>
              <a:t>制作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199" y="3355848"/>
            <a:ext cx="2400300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1200"/>
              </a:spcAft>
              <a:defRPr sz="1800" b="0">
                <a:solidFill>
                  <a:srgbClr val="506176"/>
                </a:solidFill>
                <a:latin typeface="Aptos"/>
                <a:ea typeface="Microsoft YaHei"/>
              </a:defRPr>
            </a:pPr>
            <a:r>
              <a:t>页面与讲稿同步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864090" y="2871216"/>
            <a:ext cx="182880" cy="219456"/>
          </a:xfrm>
          <a:prstGeom prst="roundRect">
            <a:avLst/>
          </a:prstGeom>
          <a:solidFill>
            <a:srgbClr val="147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55380" y="1947672"/>
            <a:ext cx="24003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1200"/>
              </a:spcAft>
              <a:defRPr sz="2100" b="1">
                <a:solidFill>
                  <a:srgbClr val="152D48"/>
                </a:solidFill>
                <a:latin typeface="Aptos"/>
                <a:ea typeface="Microsoft YaHei"/>
              </a:defRPr>
            </a:pPr>
            <a:r>
              <a:t>核查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55380" y="3355848"/>
            <a:ext cx="2400300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1200"/>
              </a:spcAft>
              <a:defRPr sz="1800" b="0">
                <a:solidFill>
                  <a:srgbClr val="506176"/>
                </a:solidFill>
                <a:latin typeface="Aptos"/>
                <a:ea typeface="Microsoft YaHei"/>
              </a:defRPr>
            </a:pPr>
            <a:r>
              <a:t>实际成品逐页查看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6419088"/>
            <a:ext cx="978408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200"/>
              </a:spcAft>
              <a:defRPr sz="1000" b="0">
                <a:solidFill>
                  <a:srgbClr val="506176"/>
                </a:solidFill>
                <a:latin typeface="Aptos"/>
                <a:ea typeface="Microsoft YaHei"/>
              </a:defRPr>
            </a:pPr>
            <a:r>
              <a:t>合成示例 · 用于演示软件功能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0" y="6391656"/>
            <a:ext cx="65836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1200"/>
              </a:spcAft>
              <a:defRPr sz="1100" b="0">
                <a:solidFill>
                  <a:srgbClr val="506176"/>
                </a:solidFill>
                <a:latin typeface="Aptos"/>
                <a:ea typeface="Microsoft YaHei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7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pa-title:s09"/>
          <p:cNvSpPr txBox="1"/>
          <p:nvPr/>
        </p:nvSpPr>
        <p:spPr>
          <a:xfrm>
            <a:off x="621792" y="356616"/>
            <a:ext cx="109270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200"/>
              </a:spcAft>
              <a:defRPr sz="2900" b="1">
                <a:solidFill>
                  <a:srgbClr val="152D48"/>
                </a:solidFill>
                <a:latin typeface="Aptos"/>
                <a:ea typeface="Microsoft YaHei"/>
              </a:defRPr>
            </a:pPr>
            <a:r>
              <a:t>原图需要等比展示并核对身份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179576"/>
            <a:ext cx="10945368" cy="13716"/>
          </a:xfrm>
          <a:prstGeom prst="rect">
            <a:avLst/>
          </a:prstGeom>
          <a:solidFill>
            <a:srgbClr val="CAD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emo-fig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2244" y="1435608"/>
            <a:ext cx="8284464" cy="41422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5623560"/>
            <a:ext cx="10634472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1200"/>
              </a:spcAft>
              <a:defRPr sz="1400" b="0">
                <a:solidFill>
                  <a:srgbClr val="506176"/>
                </a:solidFill>
                <a:latin typeface="Aptos"/>
                <a:ea typeface="Microsoft YaHei"/>
              </a:defRPr>
            </a:pPr>
            <a:r>
              <a:t>2:1 合成图片；默认完整等比放入，没有拉伸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5961888"/>
            <a:ext cx="1065276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200"/>
              </a:spcAft>
              <a:defRPr sz="1200" b="0">
                <a:solidFill>
                  <a:srgbClr val="506176"/>
                </a:solidFill>
                <a:latin typeface="Aptos"/>
                <a:ea typeface="Microsoft YaHei"/>
              </a:defRPr>
            </a:pPr>
            <a:r>
              <a:t>本包生成的合成图像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6419088"/>
            <a:ext cx="978408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200"/>
              </a:spcAft>
              <a:defRPr sz="1000" b="0">
                <a:solidFill>
                  <a:srgbClr val="506176"/>
                </a:solidFill>
                <a:latin typeface="Aptos"/>
                <a:ea typeface="Microsoft YaHei"/>
              </a:defRPr>
            </a:pPr>
            <a:r>
              <a:t>合成示例 · 用于演示软件功能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391656"/>
            <a:ext cx="65836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1200"/>
              </a:spcAft>
              <a:defRPr sz="1100" b="0">
                <a:solidFill>
                  <a:srgbClr val="506176"/>
                </a:solidFill>
                <a:latin typeface="Aptos"/>
                <a:ea typeface="Microsoft YaHei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7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pa-title:s10"/>
          <p:cNvSpPr txBox="1"/>
          <p:nvPr/>
        </p:nvSpPr>
        <p:spPr>
          <a:xfrm>
            <a:off x="621792" y="356616"/>
            <a:ext cx="109270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200"/>
              </a:spcAft>
              <a:defRPr sz="2900" b="1">
                <a:solidFill>
                  <a:srgbClr val="152D48"/>
                </a:solidFill>
                <a:latin typeface="Aptos"/>
                <a:ea typeface="Microsoft YaHei"/>
              </a:defRPr>
            </a:pPr>
            <a:r>
              <a:t>把质量判断落到实际成品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179576"/>
            <a:ext cx="10945368" cy="13716"/>
          </a:xfrm>
          <a:prstGeom prst="rect">
            <a:avLst/>
          </a:prstGeom>
          <a:solidFill>
            <a:srgbClr val="CAD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600200"/>
            <a:ext cx="10634472" cy="3941063"/>
          </a:xfrm>
          <a:prstGeom prst="round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600200"/>
            <a:ext cx="82296" cy="3941063"/>
          </a:xfrm>
          <a:prstGeom prst="rect">
            <a:avLst/>
          </a:prstGeom>
          <a:solidFill>
            <a:srgbClr val="147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19" y="2093976"/>
            <a:ext cx="9720072" cy="2331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200"/>
              </a:spcAft>
              <a:defRPr sz="2900" b="0">
                <a:solidFill>
                  <a:srgbClr val="152D48"/>
                </a:solidFill>
                <a:latin typeface="Aptos"/>
                <a:ea typeface="Microsoft YaHei"/>
              </a:defRPr>
            </a:pPr>
            <a:r>
              <a:t>文件能够打开，只是开始。</a:t>
            </a:r>
          </a:p>
          <a:p>
            <a:pPr algn="l">
              <a:spcAft>
                <a:spcPts val="1200"/>
              </a:spcAft>
              <a:defRPr sz="2900" b="0">
                <a:solidFill>
                  <a:srgbClr val="152D48"/>
                </a:solidFill>
                <a:latin typeface="Aptos"/>
                <a:ea typeface="Microsoft YaHei"/>
              </a:defRPr>
            </a:pPr>
            <a:r>
              <a:t>内容、版面与讲述一致，才适合交付。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19" y="4718304"/>
            <a:ext cx="9720072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1200"/>
              </a:spcAft>
              <a:defRPr sz="1800" b="0">
                <a:solidFill>
                  <a:srgbClr val="506176"/>
                </a:solidFill>
                <a:latin typeface="Aptos"/>
                <a:ea typeface="Microsoft YaHei"/>
              </a:defRPr>
            </a:pPr>
            <a:r>
              <a:t>本示例的工作原则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6419088"/>
            <a:ext cx="978408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200"/>
              </a:spcAft>
              <a:defRPr sz="1000" b="0">
                <a:solidFill>
                  <a:srgbClr val="506176"/>
                </a:solidFill>
                <a:latin typeface="Aptos"/>
                <a:ea typeface="Microsoft YaHei"/>
              </a:defRPr>
            </a:pPr>
            <a:r>
              <a:t>合成示例 · 用于演示软件功能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81360" y="6391656"/>
            <a:ext cx="65836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1200"/>
              </a:spcAft>
              <a:defRPr sz="1100" b="0">
                <a:solidFill>
                  <a:srgbClr val="506176"/>
                </a:solidFill>
                <a:latin typeface="Aptos"/>
                <a:ea typeface="Microsoft YaHe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7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pa-title:s11"/>
          <p:cNvSpPr txBox="1"/>
          <p:nvPr/>
        </p:nvSpPr>
        <p:spPr>
          <a:xfrm>
            <a:off x="621792" y="356616"/>
            <a:ext cx="109270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200"/>
              </a:spcAft>
              <a:defRPr sz="2900" b="1">
                <a:solidFill>
                  <a:srgbClr val="152D48"/>
                </a:solidFill>
                <a:latin typeface="Aptos"/>
                <a:ea typeface="Microsoft YaHei"/>
              </a:defRPr>
            </a:pPr>
            <a:r>
              <a:t>用三个动作结束准备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179576"/>
            <a:ext cx="10945368" cy="13716"/>
          </a:xfrm>
          <a:prstGeom prst="rect">
            <a:avLst/>
          </a:prstGeom>
          <a:solidFill>
            <a:srgbClr val="CAD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1600200"/>
            <a:ext cx="10469880" cy="3520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200"/>
              </a:spcAft>
              <a:defRPr sz="2400" b="0">
                <a:solidFill>
                  <a:srgbClr val="152D48"/>
                </a:solidFill>
                <a:latin typeface="Aptos"/>
                <a:ea typeface="Microsoft YaHei"/>
              </a:defRPr>
            </a:pPr>
            <a:r>
              <a:t>核对每页的主张与证据。</a:t>
            </a:r>
          </a:p>
          <a:p>
            <a:pPr algn="l">
              <a:spcAft>
                <a:spcPts val="1200"/>
              </a:spcAft>
              <a:defRPr sz="2400" b="0">
                <a:solidFill>
                  <a:srgbClr val="152D48"/>
                </a:solidFill>
                <a:latin typeface="Aptos"/>
                <a:ea typeface="Microsoft YaHei"/>
              </a:defRPr>
            </a:pPr>
            <a:r>
              <a:t>让讲稿、备注和顺序保持同步。</a:t>
            </a:r>
          </a:p>
          <a:p>
            <a:pPr algn="l">
              <a:spcAft>
                <a:spcPts val="1200"/>
              </a:spcAft>
              <a:defRPr sz="2400" b="0">
                <a:solidFill>
                  <a:srgbClr val="152D48"/>
                </a:solidFill>
                <a:latin typeface="Aptos"/>
                <a:ea typeface="Microsoft YaHei"/>
              </a:defRPr>
            </a:pPr>
            <a:r>
              <a:t>查看实际导出的所有页面。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5257800"/>
            <a:ext cx="10826496" cy="530352"/>
          </a:xfrm>
          <a:prstGeom prst="round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376672"/>
            <a:ext cx="10378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200"/>
              </a:spcAft>
              <a:defRPr sz="1900" b="1">
                <a:solidFill>
                  <a:srgbClr val="152D48"/>
                </a:solidFill>
                <a:latin typeface="Aptos"/>
                <a:ea typeface="Microsoft YaHei"/>
              </a:defRPr>
            </a:pPr>
            <a:r>
              <a:t>以最终可使用的文件作为交付依据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6419088"/>
            <a:ext cx="978408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200"/>
              </a:spcAft>
              <a:defRPr sz="1000" b="0">
                <a:solidFill>
                  <a:srgbClr val="506176"/>
                </a:solidFill>
                <a:latin typeface="Aptos"/>
                <a:ea typeface="Microsoft YaHei"/>
              </a:defRPr>
            </a:pPr>
            <a:r>
              <a:t>合成示例 · 用于演示软件功能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391656"/>
            <a:ext cx="65836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1200"/>
              </a:spcAft>
              <a:defRPr sz="1100" b="0">
                <a:solidFill>
                  <a:srgbClr val="506176"/>
                </a:solidFill>
                <a:latin typeface="Aptos"/>
                <a:ea typeface="Microsoft YaHei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7D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pa-title:s12"/>
          <p:cNvSpPr txBox="1"/>
          <p:nvPr/>
        </p:nvSpPr>
        <p:spPr>
          <a:xfrm>
            <a:off x="621792" y="356616"/>
            <a:ext cx="109270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200"/>
              </a:spcAft>
              <a:defRPr sz="2900" b="1">
                <a:solidFill>
                  <a:srgbClr val="152D48"/>
                </a:solidFill>
                <a:latin typeface="Aptos"/>
                <a:ea typeface="Microsoft YaHei"/>
              </a:defRPr>
            </a:pPr>
            <a:r>
              <a:t>留出讨论空间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179576"/>
            <a:ext cx="10945368" cy="13716"/>
          </a:xfrm>
          <a:prstGeom prst="rect">
            <a:avLst/>
          </a:prstGeom>
          <a:solidFill>
            <a:srgbClr val="CAD6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33272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1200"/>
              </a:spcAft>
              <a:defRPr sz="2700" b="0">
                <a:solidFill>
                  <a:srgbClr val="152D48"/>
                </a:solidFill>
                <a:latin typeface="Aptos"/>
                <a:ea typeface="Microsoft YaHei"/>
              </a:defRPr>
            </a:pPr>
            <a:r>
              <a:t>现在可以开始提问</a:t>
            </a:r>
          </a:p>
          <a:p>
            <a:pPr algn="ctr">
              <a:spcAft>
                <a:spcPts val="1200"/>
              </a:spcAft>
              <a:defRPr sz="2700" b="0">
                <a:solidFill>
                  <a:srgbClr val="152D48"/>
                </a:solidFill>
                <a:latin typeface="Aptos"/>
                <a:ea typeface="Microsoft YaHei"/>
              </a:defRPr>
            </a:pPr>
            <a:r>
              <a:t>也可以用实际材料替换这套合成示例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419088"/>
            <a:ext cx="9784080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200"/>
              </a:spcAft>
              <a:defRPr sz="1000" b="0">
                <a:solidFill>
                  <a:srgbClr val="506176"/>
                </a:solidFill>
                <a:latin typeface="Aptos"/>
                <a:ea typeface="Microsoft YaHei"/>
              </a:defRPr>
            </a:pPr>
            <a:r>
              <a:t>合成示例 · 用于演示软件功能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391656"/>
            <a:ext cx="658368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1200"/>
              </a:spcAft>
              <a:defRPr sz="1100" b="0">
                <a:solidFill>
                  <a:srgbClr val="506176"/>
                </a:solidFill>
                <a:latin typeface="Aptos"/>
                <a:ea typeface="Microsoft YaHei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